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7" r:id="rId4"/>
    <p:sldId id="275" r:id="rId5"/>
    <p:sldId id="266" r:id="rId6"/>
    <p:sldId id="274" r:id="rId7"/>
    <p:sldId id="272" r:id="rId8"/>
    <p:sldId id="273" r:id="rId9"/>
    <p:sldId id="268" r:id="rId10"/>
    <p:sldId id="269" r:id="rId11"/>
    <p:sldId id="270" r:id="rId12"/>
    <p:sldId id="271" r:id="rId13"/>
    <p:sldId id="265" r:id="rId14"/>
  </p:sldIdLst>
  <p:sldSz cx="18288000" cy="10287000"/>
  <p:notesSz cx="6858000" cy="9144000"/>
  <p:embeddedFontLst>
    <p:embeddedFont>
      <p:font typeface="ADLaM Display" panose="02010000000000000000" pitchFamily="2" charset="0"/>
      <p:regular r:id="rId15"/>
    </p:embeddedFont>
    <p:embeddedFont>
      <p:font typeface="Open Sauce" panose="020B0604020202020204" charset="0"/>
      <p:regular r:id="rId16"/>
    </p:embeddedFont>
    <p:embeddedFont>
      <p:font typeface="Open Sauce Bold" panose="020B0604020202020204" charset="0"/>
      <p:regular r:id="rId17"/>
    </p:embeddedFont>
    <p:embeddedFont>
      <p:font typeface="Open Sauce Semi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285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b="1" spc="-782">
                <a:solidFill>
                  <a:srgbClr val="331B0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SkillSight</a:t>
            </a:r>
          </a:p>
          <a:p>
            <a:pPr algn="l">
              <a:lnSpc>
                <a:spcPts val="9241"/>
              </a:lnSpc>
            </a:pPr>
            <a:endParaRPr lang="en-US" sz="13040" b="1" spc="-782">
              <a:solidFill>
                <a:srgbClr val="331B0D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5710" y="7256154"/>
            <a:ext cx="456068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710" y="7890982"/>
            <a:ext cx="4560684" cy="108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Yonatan Elman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Michael Kovalchuk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Roni Fadlon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89548"/>
            <a:ext cx="1602179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identifying explicit and implicit skills from resume excerpts.</a:t>
            </a:r>
          </a:p>
          <a:p>
            <a:pPr algn="l">
              <a:lnSpc>
                <a:spcPts val="4800"/>
              </a:lnSpc>
            </a:pPr>
            <a:endParaRPr lang="en-US" sz="4800" b="1" spc="-288" dirty="0">
              <a:solidFill>
                <a:srgbClr val="331B0D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175A5-04CD-0C9F-9CC0-42FAE9FE1CA2}"/>
              </a:ext>
            </a:extLst>
          </p:cNvPr>
          <p:cNvSpPr txBox="1"/>
          <p:nvPr/>
        </p:nvSpPr>
        <p:spPr>
          <a:xfrm>
            <a:off x="1028700" y="5550732"/>
            <a:ext cx="1602179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400"/>
              </a:lnSpc>
              <a:spcBef>
                <a:spcPct val="0"/>
              </a:spcBef>
              <a:defRPr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defRPr>
            </a:lvl1pPr>
          </a:lstStyle>
          <a:p>
            <a:r>
              <a:rPr lang="en-US" sz="3600" dirty="0">
                <a:sym typeface="Open Sauce Semi-Bold"/>
              </a:rPr>
              <a:t>Multi label classification</a:t>
            </a:r>
          </a:p>
          <a:p>
            <a:endParaRPr lang="en-US" dirty="0">
              <a:sym typeface="Open Sauce Semi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52877" y="1153776"/>
            <a:ext cx="1050505" cy="1263766"/>
          </a:xfrm>
          <a:custGeom>
            <a:avLst/>
            <a:gdLst/>
            <a:ahLst/>
            <a:cxnLst/>
            <a:rect l="l" t="t" r="r" b="b"/>
            <a:pathLst>
              <a:path w="1050505" h="1263766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494959" y="1434431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How resume screening works today?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7337A7A-E86E-D2AB-576D-FCDFB64D06EB}"/>
              </a:ext>
            </a:extLst>
          </p:cNvPr>
          <p:cNvSpPr txBox="1"/>
          <p:nvPr/>
        </p:nvSpPr>
        <p:spPr>
          <a:xfrm>
            <a:off x="379509" y="3755363"/>
            <a:ext cx="252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Many resumes (~250/job)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DE72E9A-8ACE-3E9F-4F03-F8005250E666}"/>
              </a:ext>
            </a:extLst>
          </p:cNvPr>
          <p:cNvSpPr txBox="1"/>
          <p:nvPr/>
        </p:nvSpPr>
        <p:spPr>
          <a:xfrm>
            <a:off x="4032476" y="3770619"/>
            <a:ext cx="252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369332"/>
                      <a:gd name="csX1" fmla="*/ 574560 w 2736000"/>
                      <a:gd name="csY1" fmla="*/ 0 h 369332"/>
                      <a:gd name="csX2" fmla="*/ 1094400 w 2736000"/>
                      <a:gd name="csY2" fmla="*/ 0 h 369332"/>
                      <a:gd name="csX3" fmla="*/ 1668960 w 2736000"/>
                      <a:gd name="csY3" fmla="*/ 0 h 369332"/>
                      <a:gd name="csX4" fmla="*/ 2243520 w 2736000"/>
                      <a:gd name="csY4" fmla="*/ 0 h 369332"/>
                      <a:gd name="csX5" fmla="*/ 2736000 w 2736000"/>
                      <a:gd name="csY5" fmla="*/ 0 h 369332"/>
                      <a:gd name="csX6" fmla="*/ 2736000 w 2736000"/>
                      <a:gd name="csY6" fmla="*/ 369332 h 369332"/>
                      <a:gd name="csX7" fmla="*/ 2216160 w 2736000"/>
                      <a:gd name="csY7" fmla="*/ 369332 h 369332"/>
                      <a:gd name="csX8" fmla="*/ 1614240 w 2736000"/>
                      <a:gd name="csY8" fmla="*/ 369332 h 369332"/>
                      <a:gd name="csX9" fmla="*/ 1094400 w 2736000"/>
                      <a:gd name="csY9" fmla="*/ 369332 h 369332"/>
                      <a:gd name="csX10" fmla="*/ 629280 w 2736000"/>
                      <a:gd name="csY10" fmla="*/ 369332 h 369332"/>
                      <a:gd name="csX11" fmla="*/ 0 w 2736000"/>
                      <a:gd name="csY11" fmla="*/ 369332 h 369332"/>
                      <a:gd name="csX12" fmla="*/ 0 w 2736000"/>
                      <a:gd name="csY12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736000" h="369332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49603" y="182265"/>
                          <a:pt x="2693524" y="260394"/>
                          <a:pt x="2736000" y="369332"/>
                        </a:cubicBezTo>
                        <a:cubicBezTo>
                          <a:pt x="2575448" y="382303"/>
                          <a:pt x="2436300" y="360263"/>
                          <a:pt x="2216160" y="369332"/>
                        </a:cubicBezTo>
                        <a:cubicBezTo>
                          <a:pt x="1996020" y="378401"/>
                          <a:pt x="1808098" y="342672"/>
                          <a:pt x="1614240" y="369332"/>
                        </a:cubicBezTo>
                        <a:cubicBezTo>
                          <a:pt x="1420382" y="395992"/>
                          <a:pt x="1337909" y="331162"/>
                          <a:pt x="1094400" y="369332"/>
                        </a:cubicBezTo>
                        <a:cubicBezTo>
                          <a:pt x="850891" y="407502"/>
                          <a:pt x="757546" y="342003"/>
                          <a:pt x="629280" y="369332"/>
                        </a:cubicBezTo>
                        <a:cubicBezTo>
                          <a:pt x="501014" y="396661"/>
                          <a:pt x="176212" y="306379"/>
                          <a:pt x="0" y="369332"/>
                        </a:cubicBezTo>
                        <a:cubicBezTo>
                          <a:pt x="-25975" y="241327"/>
                          <a:pt x="17026" y="7772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ATS screening needed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BD825DA-151E-91CD-A3DB-C5495ECF9450}"/>
              </a:ext>
            </a:extLst>
          </p:cNvPr>
          <p:cNvSpPr txBox="1"/>
          <p:nvPr/>
        </p:nvSpPr>
        <p:spPr>
          <a:xfrm>
            <a:off x="7627805" y="3773716"/>
            <a:ext cx="252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Keyword-based filtering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4AA571DF-D4A9-A55D-BB64-BB82983EC9C3}"/>
              </a:ext>
            </a:extLst>
          </p:cNvPr>
          <p:cNvSpPr txBox="1"/>
          <p:nvPr/>
        </p:nvSpPr>
        <p:spPr>
          <a:xfrm>
            <a:off x="11312660" y="3770619"/>
            <a:ext cx="252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5207"/>
                      <a:gd name="csY0" fmla="*/ 0 h 923330"/>
                      <a:gd name="csX1" fmla="*/ 574393 w 2735207"/>
                      <a:gd name="csY1" fmla="*/ 0 h 923330"/>
                      <a:gd name="csX2" fmla="*/ 1094083 w 2735207"/>
                      <a:gd name="csY2" fmla="*/ 0 h 923330"/>
                      <a:gd name="csX3" fmla="*/ 1668476 w 2735207"/>
                      <a:gd name="csY3" fmla="*/ 0 h 923330"/>
                      <a:gd name="csX4" fmla="*/ 2242870 w 2735207"/>
                      <a:gd name="csY4" fmla="*/ 0 h 923330"/>
                      <a:gd name="csX5" fmla="*/ 2735207 w 2735207"/>
                      <a:gd name="csY5" fmla="*/ 0 h 923330"/>
                      <a:gd name="csX6" fmla="*/ 2735207 w 2735207"/>
                      <a:gd name="csY6" fmla="*/ 433965 h 923330"/>
                      <a:gd name="csX7" fmla="*/ 2735207 w 2735207"/>
                      <a:gd name="csY7" fmla="*/ 923330 h 923330"/>
                      <a:gd name="csX8" fmla="*/ 2133461 w 2735207"/>
                      <a:gd name="csY8" fmla="*/ 923330 h 923330"/>
                      <a:gd name="csX9" fmla="*/ 1613772 w 2735207"/>
                      <a:gd name="csY9" fmla="*/ 923330 h 923330"/>
                      <a:gd name="csX10" fmla="*/ 1148787 w 2735207"/>
                      <a:gd name="csY10" fmla="*/ 923330 h 923330"/>
                      <a:gd name="csX11" fmla="*/ 683802 w 2735207"/>
                      <a:gd name="csY11" fmla="*/ 923330 h 923330"/>
                      <a:gd name="csX12" fmla="*/ 0 w 2735207"/>
                      <a:gd name="csY12" fmla="*/ 923330 h 923330"/>
                      <a:gd name="csX13" fmla="*/ 0 w 2735207"/>
                      <a:gd name="csY13" fmla="*/ 480132 h 923330"/>
                      <a:gd name="csX14" fmla="*/ 0 w 2735207"/>
                      <a:gd name="csY14" fmla="*/ 0 h 9233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5207" h="923330" extrusionOk="0">
                        <a:moveTo>
                          <a:pt x="0" y="0"/>
                        </a:moveTo>
                        <a:cubicBezTo>
                          <a:pt x="192010" y="-17780"/>
                          <a:pt x="357457" y="7991"/>
                          <a:pt x="574393" y="0"/>
                        </a:cubicBezTo>
                        <a:cubicBezTo>
                          <a:pt x="791329" y="-7991"/>
                          <a:pt x="854570" y="51048"/>
                          <a:pt x="1094083" y="0"/>
                        </a:cubicBezTo>
                        <a:cubicBezTo>
                          <a:pt x="1333596" y="-51048"/>
                          <a:pt x="1446680" y="58101"/>
                          <a:pt x="1668476" y="0"/>
                        </a:cubicBezTo>
                        <a:cubicBezTo>
                          <a:pt x="1890272" y="-58101"/>
                          <a:pt x="1989771" y="52020"/>
                          <a:pt x="2242870" y="0"/>
                        </a:cubicBezTo>
                        <a:cubicBezTo>
                          <a:pt x="2495969" y="-52020"/>
                          <a:pt x="2503023" y="32911"/>
                          <a:pt x="2735207" y="0"/>
                        </a:cubicBezTo>
                        <a:cubicBezTo>
                          <a:pt x="2754771" y="164204"/>
                          <a:pt x="2690706" y="327393"/>
                          <a:pt x="2735207" y="433965"/>
                        </a:cubicBezTo>
                        <a:cubicBezTo>
                          <a:pt x="2779708" y="540537"/>
                          <a:pt x="2712333" y="772938"/>
                          <a:pt x="2735207" y="923330"/>
                        </a:cubicBezTo>
                        <a:cubicBezTo>
                          <a:pt x="2557558" y="951104"/>
                          <a:pt x="2366469" y="919478"/>
                          <a:pt x="2133461" y="923330"/>
                        </a:cubicBezTo>
                        <a:cubicBezTo>
                          <a:pt x="1900453" y="927182"/>
                          <a:pt x="1804673" y="920578"/>
                          <a:pt x="1613772" y="923330"/>
                        </a:cubicBezTo>
                        <a:cubicBezTo>
                          <a:pt x="1422871" y="926082"/>
                          <a:pt x="1332245" y="890838"/>
                          <a:pt x="1148787" y="923330"/>
                        </a:cubicBezTo>
                        <a:cubicBezTo>
                          <a:pt x="965329" y="955822"/>
                          <a:pt x="852414" y="906839"/>
                          <a:pt x="683802" y="923330"/>
                        </a:cubicBezTo>
                        <a:cubicBezTo>
                          <a:pt x="515190" y="939821"/>
                          <a:pt x="304107" y="897132"/>
                          <a:pt x="0" y="923330"/>
                        </a:cubicBezTo>
                        <a:cubicBezTo>
                          <a:pt x="-17763" y="752984"/>
                          <a:pt x="50276" y="672733"/>
                          <a:pt x="0" y="480132"/>
                        </a:cubicBezTo>
                        <a:cubicBezTo>
                          <a:pt x="-50276" y="287531"/>
                          <a:pt x="18201" y="1811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Implicit skills not recognized (experience described indirectly)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D8192BC3-ABC8-D771-7E4E-19B7CE52C14D}"/>
              </a:ext>
            </a:extLst>
          </p:cNvPr>
          <p:cNvSpPr txBox="1"/>
          <p:nvPr/>
        </p:nvSpPr>
        <p:spPr>
          <a:xfrm>
            <a:off x="14957285" y="3770619"/>
            <a:ext cx="252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1477328"/>
                      <a:gd name="csX1" fmla="*/ 574560 w 2736000"/>
                      <a:gd name="csY1" fmla="*/ 0 h 1477328"/>
                      <a:gd name="csX2" fmla="*/ 1094400 w 2736000"/>
                      <a:gd name="csY2" fmla="*/ 0 h 1477328"/>
                      <a:gd name="csX3" fmla="*/ 1668960 w 2736000"/>
                      <a:gd name="csY3" fmla="*/ 0 h 1477328"/>
                      <a:gd name="csX4" fmla="*/ 2243520 w 2736000"/>
                      <a:gd name="csY4" fmla="*/ 0 h 1477328"/>
                      <a:gd name="csX5" fmla="*/ 2736000 w 2736000"/>
                      <a:gd name="csY5" fmla="*/ 0 h 1477328"/>
                      <a:gd name="csX6" fmla="*/ 2736000 w 2736000"/>
                      <a:gd name="csY6" fmla="*/ 448123 h 1477328"/>
                      <a:gd name="csX7" fmla="*/ 2736000 w 2736000"/>
                      <a:gd name="csY7" fmla="*/ 925792 h 1477328"/>
                      <a:gd name="csX8" fmla="*/ 2736000 w 2736000"/>
                      <a:gd name="csY8" fmla="*/ 1477328 h 1477328"/>
                      <a:gd name="csX9" fmla="*/ 2134080 w 2736000"/>
                      <a:gd name="csY9" fmla="*/ 1477328 h 1477328"/>
                      <a:gd name="csX10" fmla="*/ 1668960 w 2736000"/>
                      <a:gd name="csY10" fmla="*/ 1477328 h 1477328"/>
                      <a:gd name="csX11" fmla="*/ 1203840 w 2736000"/>
                      <a:gd name="csY11" fmla="*/ 1477328 h 1477328"/>
                      <a:gd name="csX12" fmla="*/ 711360 w 2736000"/>
                      <a:gd name="csY12" fmla="*/ 1477328 h 1477328"/>
                      <a:gd name="csX13" fmla="*/ 0 w 2736000"/>
                      <a:gd name="csY13" fmla="*/ 1477328 h 1477328"/>
                      <a:gd name="csX14" fmla="*/ 0 w 2736000"/>
                      <a:gd name="csY14" fmla="*/ 999659 h 1477328"/>
                      <a:gd name="csX15" fmla="*/ 0 w 2736000"/>
                      <a:gd name="csY15" fmla="*/ 492443 h 1477328"/>
                      <a:gd name="csX16" fmla="*/ 0 w 2736000"/>
                      <a:gd name="csY16" fmla="*/ 0 h 147732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736000" h="1477328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81483" y="164917"/>
                          <a:pt x="2708654" y="313341"/>
                          <a:pt x="2736000" y="448123"/>
                        </a:cubicBezTo>
                        <a:cubicBezTo>
                          <a:pt x="2763346" y="582905"/>
                          <a:pt x="2689648" y="718707"/>
                          <a:pt x="2736000" y="925792"/>
                        </a:cubicBezTo>
                        <a:cubicBezTo>
                          <a:pt x="2782352" y="1132877"/>
                          <a:pt x="2724410" y="1285181"/>
                          <a:pt x="2736000" y="1477328"/>
                        </a:cubicBezTo>
                        <a:cubicBezTo>
                          <a:pt x="2517672" y="1510916"/>
                          <a:pt x="2376492" y="1422742"/>
                          <a:pt x="2134080" y="1477328"/>
                        </a:cubicBezTo>
                        <a:cubicBezTo>
                          <a:pt x="1891668" y="1531914"/>
                          <a:pt x="1797226" y="1449999"/>
                          <a:pt x="1668960" y="1477328"/>
                        </a:cubicBezTo>
                        <a:cubicBezTo>
                          <a:pt x="1540694" y="1504657"/>
                          <a:pt x="1394693" y="1443924"/>
                          <a:pt x="1203840" y="1477328"/>
                        </a:cubicBezTo>
                        <a:cubicBezTo>
                          <a:pt x="1012987" y="1510732"/>
                          <a:pt x="915506" y="1442849"/>
                          <a:pt x="711360" y="1477328"/>
                        </a:cubicBezTo>
                        <a:cubicBezTo>
                          <a:pt x="507214" y="1511807"/>
                          <a:pt x="350990" y="1454859"/>
                          <a:pt x="0" y="1477328"/>
                        </a:cubicBezTo>
                        <a:cubicBezTo>
                          <a:pt x="-5116" y="1360275"/>
                          <a:pt x="46942" y="1110016"/>
                          <a:pt x="0" y="999659"/>
                        </a:cubicBezTo>
                        <a:cubicBezTo>
                          <a:pt x="-46942" y="889302"/>
                          <a:pt x="48660" y="701987"/>
                          <a:pt x="0" y="492443"/>
                        </a:cubicBezTo>
                        <a:cubicBezTo>
                          <a:pt x="-48660" y="282899"/>
                          <a:pt x="5293" y="1547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False negatives: qualified candidates filtered out</a:t>
            </a:r>
          </a:p>
          <a:p>
            <a:pPr algn="ctr"/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419309DF-854B-53BC-1B8A-CBA0FA838E80}"/>
              </a:ext>
            </a:extLst>
          </p:cNvPr>
          <p:cNvCxnSpPr/>
          <p:nvPr/>
        </p:nvCxnSpPr>
        <p:spPr>
          <a:xfrm>
            <a:off x="6785212" y="4501423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C2DFAF8F-A987-9473-AD5A-84EFB06F920F}"/>
              </a:ext>
            </a:extLst>
          </p:cNvPr>
          <p:cNvCxnSpPr/>
          <p:nvPr/>
        </p:nvCxnSpPr>
        <p:spPr>
          <a:xfrm>
            <a:off x="3147468" y="4501423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0AFB7415-4B60-D41B-37C1-88F46F5E1735}"/>
              </a:ext>
            </a:extLst>
          </p:cNvPr>
          <p:cNvCxnSpPr/>
          <p:nvPr/>
        </p:nvCxnSpPr>
        <p:spPr>
          <a:xfrm>
            <a:off x="10366612" y="4475363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7C7C7A99-B994-8CD9-09F3-7BEBF7068AF5}"/>
              </a:ext>
            </a:extLst>
          </p:cNvPr>
          <p:cNvCxnSpPr/>
          <p:nvPr/>
        </p:nvCxnSpPr>
        <p:spPr>
          <a:xfrm>
            <a:off x="14024212" y="4501423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6">
            <a:extLst>
              <a:ext uri="{FF2B5EF4-FFF2-40B4-BE49-F238E27FC236}">
                <a16:creationId xmlns:a16="http://schemas.microsoft.com/office/drawing/2014/main" id="{86C0DFFD-02BD-5BE9-1322-39F9EAEF52EB}"/>
              </a:ext>
            </a:extLst>
          </p:cNvPr>
          <p:cNvSpPr txBox="1"/>
          <p:nvPr/>
        </p:nvSpPr>
        <p:spPr>
          <a:xfrm>
            <a:off x="609600" y="7353300"/>
            <a:ext cx="17068800" cy="291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4000" spc="-288" dirty="0">
                <a:solidFill>
                  <a:srgbClr val="331B0D"/>
                </a:solidFill>
                <a:latin typeface="Open Sauce"/>
              </a:rPr>
              <a:t>The system optimizes for keyword matches, not skill fit - so real talent is missed</a:t>
            </a:r>
            <a:endParaRPr lang="en-US" sz="4000" spc="-288" dirty="0">
              <a:solidFill>
                <a:srgbClr val="331B0D"/>
              </a:solidFill>
              <a:latin typeface="Open Sauce"/>
              <a:sym typeface="Open Sauc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70BE4-D758-EDCC-23D5-53A4DA5B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544FDB-6469-2F6F-016A-F8354F543002}"/>
              </a:ext>
            </a:extLst>
          </p:cNvPr>
          <p:cNvSpPr txBox="1"/>
          <p:nvPr/>
        </p:nvSpPr>
        <p:spPr>
          <a:xfrm>
            <a:off x="385196" y="1116552"/>
            <a:ext cx="1302600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 err="1">
                <a:solidFill>
                  <a:srgbClr val="331B0D"/>
                </a:solidFill>
                <a:latin typeface="Open Sauce Semi-Bold"/>
              </a:rPr>
              <a:t>SkillSight</a:t>
            </a: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: Making Implicit Skills Visible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A4D2CBF-E712-9EDA-EFAF-15C4403B3212}"/>
              </a:ext>
            </a:extLst>
          </p:cNvPr>
          <p:cNvSpPr txBox="1"/>
          <p:nvPr/>
        </p:nvSpPr>
        <p:spPr>
          <a:xfrm>
            <a:off x="385196" y="2857500"/>
            <a:ext cx="11806804" cy="609397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Implicit tech skills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 detect software/engineering skills from resume/JD context, even if not written.</a:t>
            </a:r>
          </a:p>
          <a:p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Beyond keywords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 use semantic understanding instead of keyword matching.</a:t>
            </a:r>
          </a:p>
          <a:p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Clear labels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 separate Explicit vs Implicit technical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Synthetic data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 train and evaluate on a curated synthetic dataset of software/engineering resumes and job descriptions.</a:t>
            </a:r>
          </a:p>
          <a:p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Practical output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 return a focused tech-skill profile to reduce noise and missed candidates.</a:t>
            </a:r>
            <a:endParaRPr lang="he-IL" dirty="0">
              <a:latin typeface="Open Sauce" panose="020B0604020202020204" charset="0"/>
            </a:endParaRPr>
          </a:p>
        </p:txBody>
      </p:sp>
      <p:pic>
        <p:nvPicPr>
          <p:cNvPr id="1026" name="Picture 2" descr="מנהיג חדשנות דיגיטלית? למה הוא הכרחי בכל עסק או ארגון? - נובוסייט | פתרונות  דיגיטליים מותאמים אישית, הדרכה, הרצאות AI וייעוץ אסטרטגי לעסקים | Novosite">
            <a:extLst>
              <a:ext uri="{FF2B5EF4-FFF2-40B4-BE49-F238E27FC236}">
                <a16:creationId xmlns:a16="http://schemas.microsoft.com/office/drawing/2014/main" id="{2CFF26CA-3232-21BB-D758-986C5E2C8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7645" y="3009900"/>
            <a:ext cx="4801255" cy="480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92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E5B0F-6196-DB76-45A6-C4F95CBC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B52EB94-4380-E84C-A5C0-67B5E10D48C5}"/>
              </a:ext>
            </a:extLst>
          </p:cNvPr>
          <p:cNvSpPr txBox="1"/>
          <p:nvPr/>
        </p:nvSpPr>
        <p:spPr>
          <a:xfrm>
            <a:off x="385196" y="1116552"/>
            <a:ext cx="1675980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Explicit &amp; Implicit Skills in Tech Resumes: A Quick Example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A392B61-30EA-3BB0-0E0E-B01696FCC3B1}"/>
              </a:ext>
            </a:extLst>
          </p:cNvPr>
          <p:cNvSpPr txBox="1"/>
          <p:nvPr/>
        </p:nvSpPr>
        <p:spPr>
          <a:xfrm>
            <a:off x="2743200" y="3467100"/>
            <a:ext cx="11806804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JD: “I wrote complex </a:t>
            </a:r>
            <a:r>
              <a:rPr lang="en-US" sz="3000" b="1" spc="-288" dirty="0">
                <a:solidFill>
                  <a:srgbClr val="FF0000"/>
                </a:solidFill>
                <a:latin typeface="Open Sauce" panose="020B0604020202020204" charset="0"/>
              </a:rPr>
              <a:t>SQL</a:t>
            </a: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 queries to build a </a:t>
            </a:r>
            <a:r>
              <a:rPr lang="en-US" sz="3000" b="1" spc="-288" dirty="0">
                <a:solidFill>
                  <a:schemeClr val="accent4"/>
                </a:solidFill>
                <a:latin typeface="Open Sauce" panose="020B0604020202020204" charset="0"/>
              </a:rPr>
              <a:t>star schema for analytics-defining fact and dimension tables</a:t>
            </a:r>
            <a:r>
              <a:rPr lang="en-US" sz="3000" b="1" spc="-288" dirty="0">
                <a:solidFill>
                  <a:srgbClr val="331B0D"/>
                </a:solidFill>
                <a:latin typeface="Open Sauce" panose="020B0604020202020204" charset="0"/>
              </a:rPr>
              <a:t> and optimizing joins for reporting.”</a:t>
            </a:r>
          </a:p>
          <a:p>
            <a:endParaRPr lang="en-US" sz="3000" b="1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r>
              <a:rPr lang="en-US" sz="3000" b="1" spc="-288" dirty="0">
                <a:solidFill>
                  <a:srgbClr val="FF0000"/>
                </a:solidFill>
                <a:latin typeface="Open Sauce" panose="020B0604020202020204" charset="0"/>
              </a:rPr>
              <a:t>Explicit: SQL</a:t>
            </a:r>
          </a:p>
          <a:p>
            <a:endParaRPr lang="en-US" sz="3000" b="1" spc="-288" dirty="0">
              <a:solidFill>
                <a:srgbClr val="FF0000"/>
              </a:solidFill>
              <a:latin typeface="Open Sauce" panose="020B0604020202020204" charset="0"/>
            </a:endParaRPr>
          </a:p>
          <a:p>
            <a:r>
              <a:rPr lang="en-US" sz="3000" b="1" spc="-288" dirty="0">
                <a:solidFill>
                  <a:schemeClr val="accent4"/>
                </a:solidFill>
                <a:latin typeface="Open Sauce" panose="020B0604020202020204" charset="0"/>
              </a:rPr>
              <a:t>Implicit: Dimensional Modeling</a:t>
            </a:r>
            <a:endParaRPr lang="he-IL" dirty="0">
              <a:solidFill>
                <a:schemeClr val="accent4"/>
              </a:solidFill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8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C804A-9C50-660D-3A06-B941792A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9837D8A-0DF5-C4B4-828E-CCF3C2093E02}"/>
              </a:ext>
            </a:extLst>
          </p:cNvPr>
          <p:cNvSpPr txBox="1"/>
          <p:nvPr/>
        </p:nvSpPr>
        <p:spPr>
          <a:xfrm>
            <a:off x="385196" y="1116552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 err="1">
                <a:solidFill>
                  <a:srgbClr val="331B0D"/>
                </a:solidFill>
                <a:latin typeface="Open Sauce Semi-Bold"/>
              </a:rPr>
              <a:t>SkillSight</a:t>
            </a: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 Pipeline Overview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0BF913B-27E1-82AF-0A51-7CC6CC7C49E8}"/>
              </a:ext>
            </a:extLst>
          </p:cNvPr>
          <p:cNvSpPr txBox="1"/>
          <p:nvPr/>
        </p:nvSpPr>
        <p:spPr>
          <a:xfrm>
            <a:off x="398507" y="4081272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Define Tech Skills List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700069C-923E-847B-93FC-AE1ECC4F83C4}"/>
              </a:ext>
            </a:extLst>
          </p:cNvPr>
          <p:cNvSpPr txBox="1"/>
          <p:nvPr/>
        </p:nvSpPr>
        <p:spPr>
          <a:xfrm>
            <a:off x="3367613" y="40767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369332"/>
                      <a:gd name="csX1" fmla="*/ 574560 w 2736000"/>
                      <a:gd name="csY1" fmla="*/ 0 h 369332"/>
                      <a:gd name="csX2" fmla="*/ 1094400 w 2736000"/>
                      <a:gd name="csY2" fmla="*/ 0 h 369332"/>
                      <a:gd name="csX3" fmla="*/ 1668960 w 2736000"/>
                      <a:gd name="csY3" fmla="*/ 0 h 369332"/>
                      <a:gd name="csX4" fmla="*/ 2243520 w 2736000"/>
                      <a:gd name="csY4" fmla="*/ 0 h 369332"/>
                      <a:gd name="csX5" fmla="*/ 2736000 w 2736000"/>
                      <a:gd name="csY5" fmla="*/ 0 h 369332"/>
                      <a:gd name="csX6" fmla="*/ 2736000 w 2736000"/>
                      <a:gd name="csY6" fmla="*/ 369332 h 369332"/>
                      <a:gd name="csX7" fmla="*/ 2216160 w 2736000"/>
                      <a:gd name="csY7" fmla="*/ 369332 h 369332"/>
                      <a:gd name="csX8" fmla="*/ 1614240 w 2736000"/>
                      <a:gd name="csY8" fmla="*/ 369332 h 369332"/>
                      <a:gd name="csX9" fmla="*/ 1094400 w 2736000"/>
                      <a:gd name="csY9" fmla="*/ 369332 h 369332"/>
                      <a:gd name="csX10" fmla="*/ 629280 w 2736000"/>
                      <a:gd name="csY10" fmla="*/ 369332 h 369332"/>
                      <a:gd name="csX11" fmla="*/ 0 w 2736000"/>
                      <a:gd name="csY11" fmla="*/ 369332 h 369332"/>
                      <a:gd name="csX12" fmla="*/ 0 w 2736000"/>
                      <a:gd name="csY12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736000" h="369332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49603" y="182265"/>
                          <a:pt x="2693524" y="260394"/>
                          <a:pt x="2736000" y="369332"/>
                        </a:cubicBezTo>
                        <a:cubicBezTo>
                          <a:pt x="2575448" y="382303"/>
                          <a:pt x="2436300" y="360263"/>
                          <a:pt x="2216160" y="369332"/>
                        </a:cubicBezTo>
                        <a:cubicBezTo>
                          <a:pt x="1996020" y="378401"/>
                          <a:pt x="1808098" y="342672"/>
                          <a:pt x="1614240" y="369332"/>
                        </a:cubicBezTo>
                        <a:cubicBezTo>
                          <a:pt x="1420382" y="395992"/>
                          <a:pt x="1337909" y="331162"/>
                          <a:pt x="1094400" y="369332"/>
                        </a:cubicBezTo>
                        <a:cubicBezTo>
                          <a:pt x="850891" y="407502"/>
                          <a:pt x="757546" y="342003"/>
                          <a:pt x="629280" y="369332"/>
                        </a:cubicBezTo>
                        <a:cubicBezTo>
                          <a:pt x="501014" y="396661"/>
                          <a:pt x="176212" y="306379"/>
                          <a:pt x="0" y="369332"/>
                        </a:cubicBezTo>
                        <a:cubicBezTo>
                          <a:pt x="-25975" y="241327"/>
                          <a:pt x="17026" y="7772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Skill Bundles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1CD526C7-7AD0-5CDC-6588-001F1917AF40}"/>
              </a:ext>
            </a:extLst>
          </p:cNvPr>
          <p:cNvSpPr txBox="1"/>
          <p:nvPr/>
        </p:nvSpPr>
        <p:spPr>
          <a:xfrm>
            <a:off x="6415774" y="40767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Generate </a:t>
            </a:r>
            <a:r>
              <a:rPr lang="en-US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Synthetic Dataset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by GPT 4o- mini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214C9E81-0B78-3D23-5E19-58A551310E03}"/>
              </a:ext>
            </a:extLst>
          </p:cNvPr>
          <p:cNvSpPr txBox="1"/>
          <p:nvPr/>
        </p:nvSpPr>
        <p:spPr>
          <a:xfrm>
            <a:off x="12519628" y="40767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5207"/>
                      <a:gd name="csY0" fmla="*/ 0 h 923330"/>
                      <a:gd name="csX1" fmla="*/ 574393 w 2735207"/>
                      <a:gd name="csY1" fmla="*/ 0 h 923330"/>
                      <a:gd name="csX2" fmla="*/ 1094083 w 2735207"/>
                      <a:gd name="csY2" fmla="*/ 0 h 923330"/>
                      <a:gd name="csX3" fmla="*/ 1668476 w 2735207"/>
                      <a:gd name="csY3" fmla="*/ 0 h 923330"/>
                      <a:gd name="csX4" fmla="*/ 2242870 w 2735207"/>
                      <a:gd name="csY4" fmla="*/ 0 h 923330"/>
                      <a:gd name="csX5" fmla="*/ 2735207 w 2735207"/>
                      <a:gd name="csY5" fmla="*/ 0 h 923330"/>
                      <a:gd name="csX6" fmla="*/ 2735207 w 2735207"/>
                      <a:gd name="csY6" fmla="*/ 433965 h 923330"/>
                      <a:gd name="csX7" fmla="*/ 2735207 w 2735207"/>
                      <a:gd name="csY7" fmla="*/ 923330 h 923330"/>
                      <a:gd name="csX8" fmla="*/ 2133461 w 2735207"/>
                      <a:gd name="csY8" fmla="*/ 923330 h 923330"/>
                      <a:gd name="csX9" fmla="*/ 1613772 w 2735207"/>
                      <a:gd name="csY9" fmla="*/ 923330 h 923330"/>
                      <a:gd name="csX10" fmla="*/ 1148787 w 2735207"/>
                      <a:gd name="csY10" fmla="*/ 923330 h 923330"/>
                      <a:gd name="csX11" fmla="*/ 683802 w 2735207"/>
                      <a:gd name="csY11" fmla="*/ 923330 h 923330"/>
                      <a:gd name="csX12" fmla="*/ 0 w 2735207"/>
                      <a:gd name="csY12" fmla="*/ 923330 h 923330"/>
                      <a:gd name="csX13" fmla="*/ 0 w 2735207"/>
                      <a:gd name="csY13" fmla="*/ 480132 h 923330"/>
                      <a:gd name="csX14" fmla="*/ 0 w 2735207"/>
                      <a:gd name="csY14" fmla="*/ 0 h 9233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5207" h="923330" extrusionOk="0">
                        <a:moveTo>
                          <a:pt x="0" y="0"/>
                        </a:moveTo>
                        <a:cubicBezTo>
                          <a:pt x="192010" y="-17780"/>
                          <a:pt x="357457" y="7991"/>
                          <a:pt x="574393" y="0"/>
                        </a:cubicBezTo>
                        <a:cubicBezTo>
                          <a:pt x="791329" y="-7991"/>
                          <a:pt x="854570" y="51048"/>
                          <a:pt x="1094083" y="0"/>
                        </a:cubicBezTo>
                        <a:cubicBezTo>
                          <a:pt x="1333596" y="-51048"/>
                          <a:pt x="1446680" y="58101"/>
                          <a:pt x="1668476" y="0"/>
                        </a:cubicBezTo>
                        <a:cubicBezTo>
                          <a:pt x="1890272" y="-58101"/>
                          <a:pt x="1989771" y="52020"/>
                          <a:pt x="2242870" y="0"/>
                        </a:cubicBezTo>
                        <a:cubicBezTo>
                          <a:pt x="2495969" y="-52020"/>
                          <a:pt x="2503023" y="32911"/>
                          <a:pt x="2735207" y="0"/>
                        </a:cubicBezTo>
                        <a:cubicBezTo>
                          <a:pt x="2754771" y="164204"/>
                          <a:pt x="2690706" y="327393"/>
                          <a:pt x="2735207" y="433965"/>
                        </a:cubicBezTo>
                        <a:cubicBezTo>
                          <a:pt x="2779708" y="540537"/>
                          <a:pt x="2712333" y="772938"/>
                          <a:pt x="2735207" y="923330"/>
                        </a:cubicBezTo>
                        <a:cubicBezTo>
                          <a:pt x="2557558" y="951104"/>
                          <a:pt x="2366469" y="919478"/>
                          <a:pt x="2133461" y="923330"/>
                        </a:cubicBezTo>
                        <a:cubicBezTo>
                          <a:pt x="1900453" y="927182"/>
                          <a:pt x="1804673" y="920578"/>
                          <a:pt x="1613772" y="923330"/>
                        </a:cubicBezTo>
                        <a:cubicBezTo>
                          <a:pt x="1422871" y="926082"/>
                          <a:pt x="1332245" y="890838"/>
                          <a:pt x="1148787" y="923330"/>
                        </a:cubicBezTo>
                        <a:cubicBezTo>
                          <a:pt x="965329" y="955822"/>
                          <a:pt x="852414" y="906839"/>
                          <a:pt x="683802" y="923330"/>
                        </a:cubicBezTo>
                        <a:cubicBezTo>
                          <a:pt x="515190" y="939821"/>
                          <a:pt x="304107" y="897132"/>
                          <a:pt x="0" y="923330"/>
                        </a:cubicBezTo>
                        <a:cubicBezTo>
                          <a:pt x="-17763" y="752984"/>
                          <a:pt x="50276" y="672733"/>
                          <a:pt x="0" y="480132"/>
                        </a:cubicBezTo>
                        <a:cubicBezTo>
                          <a:pt x="-50276" y="287531"/>
                          <a:pt x="18201" y="1811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 &amp; Evaluate Models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DBC5C227-8252-6400-1B7E-AB17753F4D75}"/>
              </a:ext>
            </a:extLst>
          </p:cNvPr>
          <p:cNvSpPr txBox="1"/>
          <p:nvPr/>
        </p:nvSpPr>
        <p:spPr>
          <a:xfrm>
            <a:off x="15440504" y="40767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1477328"/>
                      <a:gd name="csX1" fmla="*/ 574560 w 2736000"/>
                      <a:gd name="csY1" fmla="*/ 0 h 1477328"/>
                      <a:gd name="csX2" fmla="*/ 1094400 w 2736000"/>
                      <a:gd name="csY2" fmla="*/ 0 h 1477328"/>
                      <a:gd name="csX3" fmla="*/ 1668960 w 2736000"/>
                      <a:gd name="csY3" fmla="*/ 0 h 1477328"/>
                      <a:gd name="csX4" fmla="*/ 2243520 w 2736000"/>
                      <a:gd name="csY4" fmla="*/ 0 h 1477328"/>
                      <a:gd name="csX5" fmla="*/ 2736000 w 2736000"/>
                      <a:gd name="csY5" fmla="*/ 0 h 1477328"/>
                      <a:gd name="csX6" fmla="*/ 2736000 w 2736000"/>
                      <a:gd name="csY6" fmla="*/ 448123 h 1477328"/>
                      <a:gd name="csX7" fmla="*/ 2736000 w 2736000"/>
                      <a:gd name="csY7" fmla="*/ 925792 h 1477328"/>
                      <a:gd name="csX8" fmla="*/ 2736000 w 2736000"/>
                      <a:gd name="csY8" fmla="*/ 1477328 h 1477328"/>
                      <a:gd name="csX9" fmla="*/ 2134080 w 2736000"/>
                      <a:gd name="csY9" fmla="*/ 1477328 h 1477328"/>
                      <a:gd name="csX10" fmla="*/ 1668960 w 2736000"/>
                      <a:gd name="csY10" fmla="*/ 1477328 h 1477328"/>
                      <a:gd name="csX11" fmla="*/ 1203840 w 2736000"/>
                      <a:gd name="csY11" fmla="*/ 1477328 h 1477328"/>
                      <a:gd name="csX12" fmla="*/ 711360 w 2736000"/>
                      <a:gd name="csY12" fmla="*/ 1477328 h 1477328"/>
                      <a:gd name="csX13" fmla="*/ 0 w 2736000"/>
                      <a:gd name="csY13" fmla="*/ 1477328 h 1477328"/>
                      <a:gd name="csX14" fmla="*/ 0 w 2736000"/>
                      <a:gd name="csY14" fmla="*/ 999659 h 1477328"/>
                      <a:gd name="csX15" fmla="*/ 0 w 2736000"/>
                      <a:gd name="csY15" fmla="*/ 492443 h 1477328"/>
                      <a:gd name="csX16" fmla="*/ 0 w 2736000"/>
                      <a:gd name="csY16" fmla="*/ 0 h 147732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736000" h="1477328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81483" y="164917"/>
                          <a:pt x="2708654" y="313341"/>
                          <a:pt x="2736000" y="448123"/>
                        </a:cubicBezTo>
                        <a:cubicBezTo>
                          <a:pt x="2763346" y="582905"/>
                          <a:pt x="2689648" y="718707"/>
                          <a:pt x="2736000" y="925792"/>
                        </a:cubicBezTo>
                        <a:cubicBezTo>
                          <a:pt x="2782352" y="1132877"/>
                          <a:pt x="2724410" y="1285181"/>
                          <a:pt x="2736000" y="1477328"/>
                        </a:cubicBezTo>
                        <a:cubicBezTo>
                          <a:pt x="2517672" y="1510916"/>
                          <a:pt x="2376492" y="1422742"/>
                          <a:pt x="2134080" y="1477328"/>
                        </a:cubicBezTo>
                        <a:cubicBezTo>
                          <a:pt x="1891668" y="1531914"/>
                          <a:pt x="1797226" y="1449999"/>
                          <a:pt x="1668960" y="1477328"/>
                        </a:cubicBezTo>
                        <a:cubicBezTo>
                          <a:pt x="1540694" y="1504657"/>
                          <a:pt x="1394693" y="1443924"/>
                          <a:pt x="1203840" y="1477328"/>
                        </a:cubicBezTo>
                        <a:cubicBezTo>
                          <a:pt x="1012987" y="1510732"/>
                          <a:pt x="915506" y="1442849"/>
                          <a:pt x="711360" y="1477328"/>
                        </a:cubicBezTo>
                        <a:cubicBezTo>
                          <a:pt x="507214" y="1511807"/>
                          <a:pt x="350990" y="1454859"/>
                          <a:pt x="0" y="1477328"/>
                        </a:cubicBezTo>
                        <a:cubicBezTo>
                          <a:pt x="-5116" y="1360275"/>
                          <a:pt x="46942" y="1110016"/>
                          <a:pt x="0" y="999659"/>
                        </a:cubicBezTo>
                        <a:cubicBezTo>
                          <a:pt x="-46942" y="889302"/>
                          <a:pt x="48660" y="701987"/>
                          <a:pt x="0" y="492443"/>
                        </a:cubicBezTo>
                        <a:cubicBezTo>
                          <a:pt x="-48660" y="282899"/>
                          <a:pt x="5293" y="1547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Metrics &amp; Results</a:t>
            </a:r>
          </a:p>
        </p:txBody>
      </p: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77B512B2-18A5-C6D6-5970-39172ED03E3A}"/>
              </a:ext>
            </a:extLst>
          </p:cNvPr>
          <p:cNvCxnSpPr/>
          <p:nvPr/>
        </p:nvCxnSpPr>
        <p:spPr>
          <a:xfrm>
            <a:off x="5527613" y="4806107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43B701DB-67A4-9B90-8A14-89D460D7A5F3}"/>
              </a:ext>
            </a:extLst>
          </p:cNvPr>
          <p:cNvCxnSpPr/>
          <p:nvPr/>
        </p:nvCxnSpPr>
        <p:spPr>
          <a:xfrm>
            <a:off x="2548244" y="4821366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4DAECD01-1125-3920-B374-F57B33C0B159}"/>
              </a:ext>
            </a:extLst>
          </p:cNvPr>
          <p:cNvCxnSpPr>
            <a:cxnSpLocks/>
          </p:cNvCxnSpPr>
          <p:nvPr/>
        </p:nvCxnSpPr>
        <p:spPr>
          <a:xfrm>
            <a:off x="8598408" y="4796700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36937779-2F6D-CA8B-37D0-F57C2903EF41}"/>
              </a:ext>
            </a:extLst>
          </p:cNvPr>
          <p:cNvCxnSpPr/>
          <p:nvPr/>
        </p:nvCxnSpPr>
        <p:spPr>
          <a:xfrm>
            <a:off x="14698723" y="4796700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BA68D075-FD90-4229-28BB-B77427C0EA64}"/>
              </a:ext>
            </a:extLst>
          </p:cNvPr>
          <p:cNvCxnSpPr/>
          <p:nvPr/>
        </p:nvCxnSpPr>
        <p:spPr>
          <a:xfrm>
            <a:off x="13622572" y="5516700"/>
            <a:ext cx="0" cy="9144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357EFCD2-1F15-7DE5-740F-7D8F745FB642}"/>
              </a:ext>
            </a:extLst>
          </p:cNvPr>
          <p:cNvCxnSpPr/>
          <p:nvPr/>
        </p:nvCxnSpPr>
        <p:spPr>
          <a:xfrm>
            <a:off x="16611600" y="5516700"/>
            <a:ext cx="0" cy="9144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E71ADF60-1065-CF96-917D-2DA3CCDC6345}"/>
              </a:ext>
            </a:extLst>
          </p:cNvPr>
          <p:cNvSpPr txBox="1"/>
          <p:nvPr/>
        </p:nvSpPr>
        <p:spPr>
          <a:xfrm>
            <a:off x="12519628" y="66675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marL="342900" indent="-342900" algn="ctr">
              <a:buAutoNum type="arabicPeriod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</a:rPr>
              <a:t>Pairwise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</a:rPr>
              <a:t>One-pass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6FAFED1-E55F-CD1F-D4A6-115032743BC0}"/>
              </a:ext>
            </a:extLst>
          </p:cNvPr>
          <p:cNvSpPr txBox="1"/>
          <p:nvPr/>
        </p:nvSpPr>
        <p:spPr>
          <a:xfrm>
            <a:off x="15440504" y="66675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marL="342900" indent="-342900" algn="ctr">
              <a:buAutoNum type="arabicPeriod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</a:rPr>
              <a:t>recall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</a:rPr>
              <a:t>precision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</a:rPr>
              <a:t>F1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21E6320-25FB-D55C-E416-369742DFC760}"/>
              </a:ext>
            </a:extLst>
          </p:cNvPr>
          <p:cNvSpPr txBox="1"/>
          <p:nvPr/>
        </p:nvSpPr>
        <p:spPr>
          <a:xfrm>
            <a:off x="9463001" y="4076700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Zero-Shot Baseline by GPT 4o- mini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18A9562F-5312-EDE2-9E6C-B0B9E0D9A7E5}"/>
              </a:ext>
            </a:extLst>
          </p:cNvPr>
          <p:cNvCxnSpPr>
            <a:cxnSpLocks/>
          </p:cNvCxnSpPr>
          <p:nvPr/>
        </p:nvCxnSpPr>
        <p:spPr>
          <a:xfrm>
            <a:off x="11623001" y="4833416"/>
            <a:ext cx="7725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6F40E66-B70C-5BE5-90E2-6B4334018FD0}"/>
              </a:ext>
            </a:extLst>
          </p:cNvPr>
          <p:cNvSpPr txBox="1"/>
          <p:nvPr/>
        </p:nvSpPr>
        <p:spPr>
          <a:xfrm>
            <a:off x="6415774" y="6669024"/>
            <a:ext cx="2160000" cy="144000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6470446">
                  <a:custGeom>
                    <a:avLst/>
                    <a:gdLst>
                      <a:gd name="csX0" fmla="*/ 0 w 2736000"/>
                      <a:gd name="csY0" fmla="*/ 0 h 646331"/>
                      <a:gd name="csX1" fmla="*/ 574560 w 2736000"/>
                      <a:gd name="csY1" fmla="*/ 0 h 646331"/>
                      <a:gd name="csX2" fmla="*/ 1094400 w 2736000"/>
                      <a:gd name="csY2" fmla="*/ 0 h 646331"/>
                      <a:gd name="csX3" fmla="*/ 1668960 w 2736000"/>
                      <a:gd name="csY3" fmla="*/ 0 h 646331"/>
                      <a:gd name="csX4" fmla="*/ 2243520 w 2736000"/>
                      <a:gd name="csY4" fmla="*/ 0 h 646331"/>
                      <a:gd name="csX5" fmla="*/ 2736000 w 2736000"/>
                      <a:gd name="csY5" fmla="*/ 0 h 646331"/>
                      <a:gd name="csX6" fmla="*/ 2736000 w 2736000"/>
                      <a:gd name="csY6" fmla="*/ 303776 h 646331"/>
                      <a:gd name="csX7" fmla="*/ 2736000 w 2736000"/>
                      <a:gd name="csY7" fmla="*/ 646331 h 646331"/>
                      <a:gd name="csX8" fmla="*/ 2134080 w 2736000"/>
                      <a:gd name="csY8" fmla="*/ 646331 h 646331"/>
                      <a:gd name="csX9" fmla="*/ 1614240 w 2736000"/>
                      <a:gd name="csY9" fmla="*/ 646331 h 646331"/>
                      <a:gd name="csX10" fmla="*/ 1149120 w 2736000"/>
                      <a:gd name="csY10" fmla="*/ 646331 h 646331"/>
                      <a:gd name="csX11" fmla="*/ 684000 w 2736000"/>
                      <a:gd name="csY11" fmla="*/ 646331 h 646331"/>
                      <a:gd name="csX12" fmla="*/ 0 w 2736000"/>
                      <a:gd name="csY12" fmla="*/ 646331 h 646331"/>
                      <a:gd name="csX13" fmla="*/ 0 w 2736000"/>
                      <a:gd name="csY13" fmla="*/ 336092 h 646331"/>
                      <a:gd name="csX14" fmla="*/ 0 w 2736000"/>
                      <a:gd name="csY14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736000" h="646331" extrusionOk="0">
                        <a:moveTo>
                          <a:pt x="0" y="0"/>
                        </a:moveTo>
                        <a:cubicBezTo>
                          <a:pt x="265189" y="-26197"/>
                          <a:pt x="449724" y="18586"/>
                          <a:pt x="574560" y="0"/>
                        </a:cubicBezTo>
                        <a:cubicBezTo>
                          <a:pt x="699396" y="-18586"/>
                          <a:pt x="934743" y="216"/>
                          <a:pt x="1094400" y="0"/>
                        </a:cubicBezTo>
                        <a:cubicBezTo>
                          <a:pt x="1254057" y="-216"/>
                          <a:pt x="1476013" y="5632"/>
                          <a:pt x="1668960" y="0"/>
                        </a:cubicBezTo>
                        <a:cubicBezTo>
                          <a:pt x="1861907" y="-5632"/>
                          <a:pt x="2084416" y="45710"/>
                          <a:pt x="2243520" y="0"/>
                        </a:cubicBezTo>
                        <a:cubicBezTo>
                          <a:pt x="2402624" y="-45710"/>
                          <a:pt x="2619940" y="33263"/>
                          <a:pt x="2736000" y="0"/>
                        </a:cubicBezTo>
                        <a:cubicBezTo>
                          <a:pt x="2765673" y="83359"/>
                          <a:pt x="2729294" y="236071"/>
                          <a:pt x="2736000" y="303776"/>
                        </a:cubicBezTo>
                        <a:cubicBezTo>
                          <a:pt x="2742706" y="371481"/>
                          <a:pt x="2695442" y="553284"/>
                          <a:pt x="2736000" y="646331"/>
                        </a:cubicBezTo>
                        <a:cubicBezTo>
                          <a:pt x="2480469" y="646451"/>
                          <a:pt x="2327938" y="619671"/>
                          <a:pt x="2134080" y="646331"/>
                        </a:cubicBezTo>
                        <a:cubicBezTo>
                          <a:pt x="1940222" y="672991"/>
                          <a:pt x="1857749" y="608161"/>
                          <a:pt x="1614240" y="646331"/>
                        </a:cubicBezTo>
                        <a:cubicBezTo>
                          <a:pt x="1370731" y="684501"/>
                          <a:pt x="1277386" y="619002"/>
                          <a:pt x="1149120" y="646331"/>
                        </a:cubicBezTo>
                        <a:cubicBezTo>
                          <a:pt x="1020854" y="673660"/>
                          <a:pt x="874853" y="612927"/>
                          <a:pt x="684000" y="646331"/>
                        </a:cubicBezTo>
                        <a:cubicBezTo>
                          <a:pt x="493147" y="679735"/>
                          <a:pt x="232028" y="579020"/>
                          <a:pt x="0" y="646331"/>
                        </a:cubicBezTo>
                        <a:cubicBezTo>
                          <a:pt x="-31310" y="492320"/>
                          <a:pt x="21673" y="448710"/>
                          <a:pt x="0" y="336092"/>
                        </a:cubicBezTo>
                        <a:cubicBezTo>
                          <a:pt x="-21673" y="223474"/>
                          <a:pt x="18474" y="153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1" anchor="ctr">
            <a:spAutoFit/>
          </a:bodyPr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3500 examples</a:t>
            </a:r>
            <a:endParaRPr lang="he-IL" dirty="0">
              <a:latin typeface="ADLaM Display" panose="02010000000000000000" pitchFamily="2" charset="0"/>
              <a:ea typeface="ADLaM Display" panose="02010000000000000000" pitchFamily="2" charset="0"/>
            </a:endParaRP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061D6D34-2AE4-F5CA-7E5E-0E08B9FEB418}"/>
              </a:ext>
            </a:extLst>
          </p:cNvPr>
          <p:cNvCxnSpPr/>
          <p:nvPr/>
        </p:nvCxnSpPr>
        <p:spPr>
          <a:xfrm>
            <a:off x="7495774" y="5516700"/>
            <a:ext cx="0" cy="9144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6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  <p:bldP spid="2" grpId="0" animBg="1"/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5DBE6-CC7C-A596-E339-B54A7B65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97BB5AC-AB29-C7BD-A023-5924895E2A1C}"/>
              </a:ext>
            </a:extLst>
          </p:cNvPr>
          <p:cNvSpPr txBox="1"/>
          <p:nvPr/>
        </p:nvSpPr>
        <p:spPr>
          <a:xfrm>
            <a:off x="304800" y="571500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End-to-End: </a:t>
            </a:r>
            <a:r>
              <a:rPr lang="en-US" sz="4800" b="1" u="sng" spc="-288" dirty="0">
                <a:solidFill>
                  <a:srgbClr val="331B0D"/>
                </a:solidFill>
                <a:latin typeface="Open Sauce Semi-Bold"/>
              </a:rPr>
              <a:t>Data</a:t>
            </a: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 • Models • Metrics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C384C18-595E-8488-30AB-8959F70D4EC2}"/>
              </a:ext>
            </a:extLst>
          </p:cNvPr>
          <p:cNvSpPr txBox="1"/>
          <p:nvPr/>
        </p:nvSpPr>
        <p:spPr>
          <a:xfrm>
            <a:off x="533400" y="1866900"/>
            <a:ext cx="12268200" cy="50783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u="sng" spc="-288" dirty="0">
                <a:solidFill>
                  <a:srgbClr val="331B0D"/>
                </a:solidFill>
                <a:latin typeface="Open Sauce" panose="020B0604020202020204" charset="0"/>
              </a:rPr>
              <a:t>Data</a:t>
            </a:r>
            <a:r>
              <a:rPr lang="en-US" sz="3000" b="1" u="sng" spc="-288" dirty="0">
                <a:solidFill>
                  <a:srgbClr val="331B0D"/>
                </a:solidFill>
                <a:latin typeface="Open Sauce" panose="020B0604020202020204" charset="0"/>
              </a:rPr>
              <a:t>:</a:t>
            </a:r>
          </a:p>
          <a:p>
            <a:endParaRPr lang="en-US" sz="30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3,500 synthetic, controlled examples (JD-like)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Fixed global skill list across all samples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Each example is built around 3–6 skills sampled from the global list (via skill bundles)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000" spc="-288" dirty="0">
                <a:solidFill>
                  <a:srgbClr val="331B0D"/>
                </a:solidFill>
                <a:latin typeface="Open Sauce" panose="020B0604020202020204" charset="0"/>
              </a:rPr>
              <a:t>Per-skill labeling: NONE / IMPLICIT / EXPLICIT</a:t>
            </a: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1ADA247-2555-3211-39DC-1AC48CFB5622}"/>
              </a:ext>
            </a:extLst>
          </p:cNvPr>
          <p:cNvSpPr txBox="1"/>
          <p:nvPr/>
        </p:nvSpPr>
        <p:spPr>
          <a:xfrm>
            <a:off x="533400" y="7496770"/>
            <a:ext cx="16383000" cy="22159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u="sng" spc="-288" dirty="0">
                <a:solidFill>
                  <a:srgbClr val="331B0D"/>
                </a:solidFill>
                <a:latin typeface="Open Sauce" panose="020B0604020202020204" charset="0"/>
              </a:rPr>
              <a:t>Example from the Dataset:</a:t>
            </a:r>
          </a:p>
          <a:p>
            <a:endParaRPr lang="en-US" sz="30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r>
              <a:rPr lang="en-US" sz="2400" dirty="0">
                <a:latin typeface="Open Sauce" panose="020B0604020202020204" charset="0"/>
              </a:rPr>
              <a:t>"</a:t>
            </a:r>
            <a:r>
              <a:rPr lang="en-US" sz="2400" dirty="0" err="1">
                <a:latin typeface="Open Sauce" panose="020B0604020202020204" charset="0"/>
              </a:rPr>
              <a:t>job_description</a:t>
            </a:r>
            <a:r>
              <a:rPr lang="en-US" sz="2400" dirty="0">
                <a:latin typeface="Open Sauce" panose="020B0604020202020204" charset="0"/>
              </a:rPr>
              <a:t>": "In my previous role…. , ultimately enhancing the overall educational experience we provided.", </a:t>
            </a:r>
          </a:p>
          <a:p>
            <a:r>
              <a:rPr lang="en-US" sz="2400" dirty="0">
                <a:latin typeface="Open Sauce" panose="020B0604020202020204" charset="0"/>
              </a:rPr>
              <a:t>"skills": {"Bash": 1.0, "PowerShell": 1.0, "</a:t>
            </a:r>
            <a:r>
              <a:rPr lang="en-US" sz="2400" dirty="0" err="1">
                <a:latin typeface="Open Sauce" panose="020B0604020202020204" charset="0"/>
              </a:rPr>
              <a:t>Pulumi</a:t>
            </a:r>
            <a:r>
              <a:rPr lang="en-US" sz="2400" dirty="0">
                <a:latin typeface="Open Sauce" panose="020B0604020202020204" charset="0"/>
              </a:rPr>
              <a:t>": 0.5, "Terraform": 0.5, "Perl": 0.5, "Azure": 0.5}</a:t>
            </a:r>
            <a:endParaRPr lang="he-IL" sz="2400" dirty="0"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9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09A7-9CEE-B0DD-1194-5881A698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4402F36-7CE5-C8F4-0D78-67571228BEBE}"/>
              </a:ext>
            </a:extLst>
          </p:cNvPr>
          <p:cNvSpPr txBox="1"/>
          <p:nvPr/>
        </p:nvSpPr>
        <p:spPr>
          <a:xfrm>
            <a:off x="304800" y="571500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End-to-End: Data • </a:t>
            </a:r>
            <a:r>
              <a:rPr lang="en-US" sz="4800" b="1" u="sng" spc="-288" dirty="0">
                <a:solidFill>
                  <a:srgbClr val="331B0D"/>
                </a:solidFill>
                <a:latin typeface="Open Sauce Semi-Bold"/>
              </a:rPr>
              <a:t>Models</a:t>
            </a: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 • Metrics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06B3D81-E5AD-946C-87CB-284A8241663F}"/>
              </a:ext>
            </a:extLst>
          </p:cNvPr>
          <p:cNvSpPr txBox="1"/>
          <p:nvPr/>
        </p:nvSpPr>
        <p:spPr>
          <a:xfrm>
            <a:off x="228600" y="1638300"/>
            <a:ext cx="15240000" cy="92794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u="sng" spc="-288" dirty="0">
                <a:solidFill>
                  <a:srgbClr val="331B0D"/>
                </a:solidFill>
                <a:latin typeface="Open Sauce" panose="020B0604020202020204" charset="0"/>
              </a:rPr>
              <a:t>Models</a:t>
            </a:r>
            <a:r>
              <a:rPr lang="en-US" sz="3000" b="1" u="sng" spc="-288" dirty="0">
                <a:solidFill>
                  <a:srgbClr val="331B0D"/>
                </a:solidFill>
                <a:latin typeface="Open Sauce" panose="020B060402020202020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We compare a zero-shot LLM baseline to a </a:t>
            </a:r>
            <a:r>
              <a:rPr lang="en-US" sz="3000" spc="-288" dirty="0" err="1">
                <a:solidFill>
                  <a:srgbClr val="331B0D"/>
                </a:solidFill>
                <a:latin typeface="Open Sauce" panose="020B0604020202020204" charset="0"/>
              </a:rPr>
              <a:t>RoBERTa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 model fine-tuned on our synthetic dataset.</a:t>
            </a:r>
          </a:p>
          <a:p>
            <a:pPr>
              <a:lnSpc>
                <a:spcPct val="150000"/>
              </a:lnSpc>
            </a:pPr>
            <a:endParaRPr lang="en-US" sz="30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it-IT" sz="3000" b="1" u="sng" spc="-288" dirty="0">
                <a:solidFill>
                  <a:srgbClr val="331B0D"/>
                </a:solidFill>
                <a:latin typeface="Open Sauce" panose="020B0604020202020204" charset="0"/>
              </a:rPr>
              <a:t>Baseline</a:t>
            </a:r>
            <a:r>
              <a:rPr lang="it-IT" sz="3000" spc="-288" dirty="0">
                <a:solidFill>
                  <a:srgbClr val="331B0D"/>
                </a:solidFill>
                <a:latin typeface="Open Sauce" panose="020B0604020202020204" charset="0"/>
              </a:rPr>
              <a:t>- GPT-4o-mini (zero-shot, no fine-tuning)</a:t>
            </a:r>
          </a:p>
          <a:p>
            <a:pPr>
              <a:lnSpc>
                <a:spcPct val="150000"/>
              </a:lnSpc>
            </a:pPr>
            <a:endParaRPr lang="it-IT" sz="30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3000" b="1" u="sng" spc="-288" dirty="0">
                <a:solidFill>
                  <a:srgbClr val="331B0D"/>
                </a:solidFill>
                <a:latin typeface="Open Sauce" panose="020B0604020202020204" charset="0"/>
              </a:rPr>
              <a:t>Fine-tuned model: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Backbone: </a:t>
            </a:r>
            <a:r>
              <a:rPr lang="en-US" sz="3000" spc="-288" dirty="0" err="1">
                <a:solidFill>
                  <a:srgbClr val="331B0D"/>
                </a:solidFill>
                <a:latin typeface="Open Sauce" panose="020B0604020202020204" charset="0"/>
              </a:rPr>
              <a:t>RoBERTa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Training strategies:</a:t>
            </a:r>
            <a:b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</a:b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– One-Pass (no class weights)</a:t>
            </a:r>
            <a:b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</a:b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– One-Pass (class weights)</a:t>
            </a:r>
            <a:b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</a:b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– Pairwise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e-IL" dirty="0"/>
          </a:p>
        </p:txBody>
      </p:sp>
      <p:pic>
        <p:nvPicPr>
          <p:cNvPr id="9" name="תמונה 8" descr="תמונה שמכילה טקסט, צילום מסך, עיצוב גרפי, מותג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121424-BA1B-CCC1-97DC-E4CA7C83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4309872"/>
            <a:ext cx="65151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64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70CDF-6E38-B215-5299-A091EECE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3FB70-809B-90BC-4F03-488D97E22305}"/>
              </a:ext>
            </a:extLst>
          </p:cNvPr>
          <p:cNvSpPr txBox="1"/>
          <p:nvPr/>
        </p:nvSpPr>
        <p:spPr>
          <a:xfrm>
            <a:off x="304800" y="571500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Approach overview: Pairwise vs One-Pass</a:t>
            </a:r>
            <a:endParaRPr lang="en-US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CE7F63C-01F4-CFF3-2E02-CECE0BE65665}"/>
              </a:ext>
            </a:extLst>
          </p:cNvPr>
          <p:cNvSpPr txBox="1"/>
          <p:nvPr/>
        </p:nvSpPr>
        <p:spPr>
          <a:xfrm>
            <a:off x="131064" y="3589092"/>
            <a:ext cx="3215639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D2D8B8F-3D01-DD5B-D8AB-62940BF8E5AC}"/>
              </a:ext>
            </a:extLst>
          </p:cNvPr>
          <p:cNvSpPr txBox="1"/>
          <p:nvPr/>
        </p:nvSpPr>
        <p:spPr>
          <a:xfrm>
            <a:off x="3346703" y="3592401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1</a:t>
            </a:r>
            <a:endParaRPr lang="he-IL" sz="24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8D4307D-ED77-47E8-B3FC-8DB5E733415B}"/>
              </a:ext>
            </a:extLst>
          </p:cNvPr>
          <p:cNvSpPr txBox="1"/>
          <p:nvPr/>
        </p:nvSpPr>
        <p:spPr>
          <a:xfrm>
            <a:off x="131064" y="4425059"/>
            <a:ext cx="3215639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A181165-F53A-F92C-A376-44805CAEBD04}"/>
              </a:ext>
            </a:extLst>
          </p:cNvPr>
          <p:cNvSpPr txBox="1"/>
          <p:nvPr/>
        </p:nvSpPr>
        <p:spPr>
          <a:xfrm>
            <a:off x="3346703" y="4428368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2</a:t>
            </a:r>
            <a:endParaRPr lang="he-IL" sz="2400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056C87C5-CA2D-A218-124D-87065B162F04}"/>
              </a:ext>
            </a:extLst>
          </p:cNvPr>
          <p:cNvSpPr txBox="1"/>
          <p:nvPr/>
        </p:nvSpPr>
        <p:spPr>
          <a:xfrm>
            <a:off x="131064" y="5235118"/>
            <a:ext cx="3215639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9F715AFA-AE03-E088-17DE-0EEB234F6275}"/>
              </a:ext>
            </a:extLst>
          </p:cNvPr>
          <p:cNvSpPr txBox="1"/>
          <p:nvPr/>
        </p:nvSpPr>
        <p:spPr>
          <a:xfrm>
            <a:off x="3346703" y="5238427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3</a:t>
            </a:r>
            <a:endParaRPr lang="he-IL" sz="2400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C6A988F1-E4C2-FC1E-AC5B-0758881D9077}"/>
              </a:ext>
            </a:extLst>
          </p:cNvPr>
          <p:cNvSpPr txBox="1"/>
          <p:nvPr/>
        </p:nvSpPr>
        <p:spPr>
          <a:xfrm>
            <a:off x="3281505" y="5817652"/>
            <a:ext cx="677108" cy="461665"/>
          </a:xfrm>
          <a:prstGeom prst="rect">
            <a:avLst/>
          </a:prstGeom>
          <a:noFill/>
        </p:spPr>
        <p:txBody>
          <a:bodyPr vert="vert" wrap="square" rtlCol="1">
            <a:spAutoFit/>
          </a:bodyPr>
          <a:lstStyle/>
          <a:p>
            <a:r>
              <a:rPr lang="en-US" sz="3200" b="1" dirty="0"/>
              <a:t>…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6C9F4EFA-B5A8-8263-B520-3D5E1E63C14A}"/>
              </a:ext>
            </a:extLst>
          </p:cNvPr>
          <p:cNvSpPr txBox="1"/>
          <p:nvPr/>
        </p:nvSpPr>
        <p:spPr>
          <a:xfrm>
            <a:off x="131064" y="6326494"/>
            <a:ext cx="3215639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0700982E-774C-30E0-4C81-13E17316D09B}"/>
              </a:ext>
            </a:extLst>
          </p:cNvPr>
          <p:cNvSpPr txBox="1"/>
          <p:nvPr/>
        </p:nvSpPr>
        <p:spPr>
          <a:xfrm>
            <a:off x="3346703" y="6329803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n</a:t>
            </a:r>
            <a:endParaRPr lang="he-IL" sz="2400" dirty="0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972A00BA-60A7-F191-CF77-3B708A8FAB21}"/>
              </a:ext>
            </a:extLst>
          </p:cNvPr>
          <p:cNvSpPr txBox="1"/>
          <p:nvPr/>
        </p:nvSpPr>
        <p:spPr>
          <a:xfrm>
            <a:off x="5186171" y="3592401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70BDA12C-94C2-6B62-CCFC-214A9E859A7E}"/>
              </a:ext>
            </a:extLst>
          </p:cNvPr>
          <p:cNvSpPr txBox="1"/>
          <p:nvPr/>
        </p:nvSpPr>
        <p:spPr>
          <a:xfrm>
            <a:off x="5198363" y="4428368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47409E98-2867-0B63-3F58-B00D6E73F67E}"/>
              </a:ext>
            </a:extLst>
          </p:cNvPr>
          <p:cNvSpPr txBox="1"/>
          <p:nvPr/>
        </p:nvSpPr>
        <p:spPr>
          <a:xfrm>
            <a:off x="5186171" y="5238427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2326FBC1-EA1B-2591-6178-C2150D02616E}"/>
              </a:ext>
            </a:extLst>
          </p:cNvPr>
          <p:cNvSpPr txBox="1"/>
          <p:nvPr/>
        </p:nvSpPr>
        <p:spPr>
          <a:xfrm>
            <a:off x="5183123" y="6329803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C1DC5A02-E5CB-25FA-56B9-887D5AE684F6}"/>
              </a:ext>
            </a:extLst>
          </p:cNvPr>
          <p:cNvSpPr txBox="1"/>
          <p:nvPr/>
        </p:nvSpPr>
        <p:spPr>
          <a:xfrm>
            <a:off x="4340352" y="2031433"/>
            <a:ext cx="42672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697A854C-9189-936F-54ED-8C66044E1482}"/>
              </a:ext>
            </a:extLst>
          </p:cNvPr>
          <p:cNvSpPr txBox="1"/>
          <p:nvPr/>
        </p:nvSpPr>
        <p:spPr>
          <a:xfrm>
            <a:off x="8991600" y="2029301"/>
            <a:ext cx="4267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1, skills 2,skill 3… skill n</a:t>
            </a:r>
            <a:endParaRPr lang="he-IL" sz="2400" dirty="0"/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C5920B65-1793-D48D-553A-1D9795C03ACC}"/>
              </a:ext>
            </a:extLst>
          </p:cNvPr>
          <p:cNvSpPr txBox="1"/>
          <p:nvPr/>
        </p:nvSpPr>
        <p:spPr>
          <a:xfrm>
            <a:off x="5065776" y="8164693"/>
            <a:ext cx="313334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451B9C61-16E3-47B6-AEB7-D4D997DD124D}"/>
              </a:ext>
            </a:extLst>
          </p:cNvPr>
          <p:cNvSpPr txBox="1"/>
          <p:nvPr/>
        </p:nvSpPr>
        <p:spPr>
          <a:xfrm>
            <a:off x="5029200" y="7277100"/>
            <a:ext cx="2743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Output:</a:t>
            </a:r>
            <a:endParaRPr lang="he-IL" sz="2800" dirty="0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C1FA0D4E-FB9D-1BF0-CE92-B9B0152D1354}"/>
              </a:ext>
            </a:extLst>
          </p:cNvPr>
          <p:cNvSpPr txBox="1"/>
          <p:nvPr/>
        </p:nvSpPr>
        <p:spPr>
          <a:xfrm>
            <a:off x="8199119" y="8164693"/>
            <a:ext cx="47244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Skills (non-none)+ implicit/explicit</a:t>
            </a:r>
            <a:endParaRPr lang="he-IL" sz="2400" dirty="0"/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536F8012-A13B-26E3-20C5-E51B9DAC2A47}"/>
              </a:ext>
            </a:extLst>
          </p:cNvPr>
          <p:cNvSpPr txBox="1"/>
          <p:nvPr/>
        </p:nvSpPr>
        <p:spPr>
          <a:xfrm>
            <a:off x="140208" y="2751017"/>
            <a:ext cx="2743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spc="-288" dirty="0">
                <a:solidFill>
                  <a:srgbClr val="331B0D"/>
                </a:solidFill>
                <a:latin typeface="Open Sauce Semi-Bold"/>
              </a:rPr>
              <a:t>Pairwise</a:t>
            </a:r>
            <a:endParaRPr lang="he-IL" sz="2800" dirty="0"/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34AC75D4-9DC9-9217-051A-FED860DF561C}"/>
              </a:ext>
            </a:extLst>
          </p:cNvPr>
          <p:cNvSpPr txBox="1"/>
          <p:nvPr/>
        </p:nvSpPr>
        <p:spPr>
          <a:xfrm>
            <a:off x="4126230" y="1353887"/>
            <a:ext cx="2743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Input:</a:t>
            </a:r>
            <a:endParaRPr lang="he-IL" sz="2800" dirty="0"/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EC5E916C-AC2D-39C6-7921-D1F42E0BF4BB}"/>
              </a:ext>
            </a:extLst>
          </p:cNvPr>
          <p:cNvSpPr txBox="1"/>
          <p:nvPr/>
        </p:nvSpPr>
        <p:spPr>
          <a:xfrm>
            <a:off x="8802624" y="2886109"/>
            <a:ext cx="2743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spc="-288" dirty="0">
                <a:solidFill>
                  <a:srgbClr val="331B0D"/>
                </a:solidFill>
                <a:latin typeface="Open Sauce Semi-Bold"/>
              </a:rPr>
              <a:t>One-Pass</a:t>
            </a:r>
            <a:endParaRPr lang="he-IL" sz="2800" dirty="0"/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BFF0EF5F-691C-B641-980D-1D6B7D701721}"/>
              </a:ext>
            </a:extLst>
          </p:cNvPr>
          <p:cNvSpPr txBox="1"/>
          <p:nvPr/>
        </p:nvSpPr>
        <p:spPr>
          <a:xfrm>
            <a:off x="8916925" y="3540407"/>
            <a:ext cx="2628899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JD X</a:t>
            </a:r>
            <a:endParaRPr lang="he-IL" sz="2400" dirty="0"/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21ED5A3B-31F3-A1E8-642D-C619EE2B76B1}"/>
              </a:ext>
            </a:extLst>
          </p:cNvPr>
          <p:cNvSpPr txBox="1"/>
          <p:nvPr/>
        </p:nvSpPr>
        <p:spPr>
          <a:xfrm>
            <a:off x="11309604" y="3540408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1</a:t>
            </a:r>
            <a:endParaRPr lang="he-IL" sz="2400" dirty="0"/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68893046-7F08-66D3-68A4-1F03312C82F8}"/>
              </a:ext>
            </a:extLst>
          </p:cNvPr>
          <p:cNvSpPr txBox="1"/>
          <p:nvPr/>
        </p:nvSpPr>
        <p:spPr>
          <a:xfrm>
            <a:off x="11303508" y="3998967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2</a:t>
            </a:r>
            <a:endParaRPr lang="he-IL" sz="2400" dirty="0"/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A75274CA-A0B5-9AC3-E0E3-F47D3E943557}"/>
              </a:ext>
            </a:extLst>
          </p:cNvPr>
          <p:cNvSpPr txBox="1"/>
          <p:nvPr/>
        </p:nvSpPr>
        <p:spPr>
          <a:xfrm>
            <a:off x="11300460" y="4456193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3</a:t>
            </a:r>
            <a:endParaRPr lang="he-IL" sz="2400" dirty="0"/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14C31A75-6E28-63E8-19F8-C494075D804B}"/>
              </a:ext>
            </a:extLst>
          </p:cNvPr>
          <p:cNvSpPr txBox="1"/>
          <p:nvPr/>
        </p:nvSpPr>
        <p:spPr>
          <a:xfrm>
            <a:off x="12917423" y="4985714"/>
            <a:ext cx="677108" cy="461665"/>
          </a:xfrm>
          <a:prstGeom prst="rect">
            <a:avLst/>
          </a:prstGeom>
          <a:noFill/>
        </p:spPr>
        <p:txBody>
          <a:bodyPr vert="vert" wrap="square" rtlCol="1">
            <a:spAutoFit/>
          </a:bodyPr>
          <a:lstStyle/>
          <a:p>
            <a:r>
              <a:rPr lang="en-US" sz="3200" b="1" dirty="0"/>
              <a:t>…</a:t>
            </a:r>
          </a:p>
        </p:txBody>
      </p:sp>
      <p:sp>
        <p:nvSpPr>
          <p:cNvPr id="39" name="תיבת טקסט 38">
            <a:extLst>
              <a:ext uri="{FF2B5EF4-FFF2-40B4-BE49-F238E27FC236}">
                <a16:creationId xmlns:a16="http://schemas.microsoft.com/office/drawing/2014/main" id="{4E9E1B4B-BDD0-D99C-1321-58A765259726}"/>
              </a:ext>
            </a:extLst>
          </p:cNvPr>
          <p:cNvSpPr txBox="1"/>
          <p:nvPr/>
        </p:nvSpPr>
        <p:spPr>
          <a:xfrm>
            <a:off x="11303508" y="5531402"/>
            <a:ext cx="19812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Skill n</a:t>
            </a:r>
            <a:endParaRPr lang="he-IL" sz="2400" dirty="0"/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52549FE3-7EF9-266D-524A-B065EEA68FAD}"/>
              </a:ext>
            </a:extLst>
          </p:cNvPr>
          <p:cNvSpPr txBox="1"/>
          <p:nvPr/>
        </p:nvSpPr>
        <p:spPr>
          <a:xfrm>
            <a:off x="13149072" y="3540408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6EDCA379-ED0A-EA9B-1E90-B79D4C0D5E24}"/>
              </a:ext>
            </a:extLst>
          </p:cNvPr>
          <p:cNvSpPr txBox="1"/>
          <p:nvPr/>
        </p:nvSpPr>
        <p:spPr>
          <a:xfrm>
            <a:off x="13155168" y="3998967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17E121B7-992A-0164-C70A-E2C15811F561}"/>
              </a:ext>
            </a:extLst>
          </p:cNvPr>
          <p:cNvSpPr txBox="1"/>
          <p:nvPr/>
        </p:nvSpPr>
        <p:spPr>
          <a:xfrm>
            <a:off x="13139928" y="4456193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43" name="תיבת טקסט 42">
            <a:extLst>
              <a:ext uri="{FF2B5EF4-FFF2-40B4-BE49-F238E27FC236}">
                <a16:creationId xmlns:a16="http://schemas.microsoft.com/office/drawing/2014/main" id="{02C1C64A-CE10-5766-91E9-9ED1149C9A61}"/>
              </a:ext>
            </a:extLst>
          </p:cNvPr>
          <p:cNvSpPr txBox="1"/>
          <p:nvPr/>
        </p:nvSpPr>
        <p:spPr>
          <a:xfrm>
            <a:off x="13139928" y="5531402"/>
            <a:ext cx="2971800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en-US" sz="2400" dirty="0"/>
              <a:t>Implicit/explicit/none</a:t>
            </a:r>
            <a:endParaRPr lang="he-IL" sz="2400" dirty="0"/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870DC64E-2F2F-2E71-4C2B-140BF031FAAD}"/>
              </a:ext>
            </a:extLst>
          </p:cNvPr>
          <p:cNvSpPr txBox="1"/>
          <p:nvPr/>
        </p:nvSpPr>
        <p:spPr>
          <a:xfrm>
            <a:off x="2130552" y="9177087"/>
            <a:ext cx="129540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spc="-288" dirty="0">
                <a:solidFill>
                  <a:srgbClr val="331B0D"/>
                </a:solidFill>
                <a:latin typeface="Open Sauce Semi-Bold"/>
              </a:rPr>
              <a:t>One-Pass runs once per JD (fast); Pairwise runs once per skill (more accurate, slower).</a:t>
            </a:r>
          </a:p>
        </p:txBody>
      </p:sp>
    </p:spTree>
    <p:extLst>
      <p:ext uri="{BB962C8B-B14F-4D97-AF65-F5344CB8AC3E}">
        <p14:creationId xmlns:p14="http://schemas.microsoft.com/office/powerpoint/2010/main" val="308684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0" grpId="0"/>
      <p:bldP spid="31" grpId="0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710DA-4985-E0D1-39D4-2F5C1451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9F1EE77-65B2-654F-7F2A-1A5A92408AB7}"/>
              </a:ext>
            </a:extLst>
          </p:cNvPr>
          <p:cNvSpPr txBox="1"/>
          <p:nvPr/>
        </p:nvSpPr>
        <p:spPr>
          <a:xfrm>
            <a:off x="304800" y="571500"/>
            <a:ext cx="120777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</a:rPr>
              <a:t>End-to-End: Data • Models • </a:t>
            </a:r>
            <a:r>
              <a:rPr lang="en-US" sz="4800" b="1" u="sng" spc="-288" dirty="0">
                <a:solidFill>
                  <a:srgbClr val="331B0D"/>
                </a:solidFill>
                <a:latin typeface="Open Sauce Semi-Bold"/>
              </a:rPr>
              <a:t>Metrics</a:t>
            </a:r>
            <a:endParaRPr lang="en-US" sz="4800" b="1" u="sng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AE71AC8-CA6F-A3A6-AE16-9B316CA59349}"/>
              </a:ext>
            </a:extLst>
          </p:cNvPr>
          <p:cNvSpPr txBox="1"/>
          <p:nvPr/>
        </p:nvSpPr>
        <p:spPr>
          <a:xfrm>
            <a:off x="381000" y="2552700"/>
            <a:ext cx="8686800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u="sng" spc="-288" dirty="0">
                <a:solidFill>
                  <a:srgbClr val="331B0D"/>
                </a:solidFill>
                <a:latin typeface="Open Sauce" panose="020B0604020202020204" charset="0"/>
              </a:rPr>
              <a:t>Metrics</a:t>
            </a:r>
            <a:r>
              <a:rPr lang="en-US" sz="2800" b="1" u="sng" spc="-288" dirty="0">
                <a:solidFill>
                  <a:srgbClr val="331B0D"/>
                </a:solidFill>
                <a:latin typeface="Open Sauce" panose="020B0604020202020204" charset="0"/>
              </a:rPr>
              <a:t>:</a:t>
            </a:r>
          </a:p>
          <a:p>
            <a:endParaRPr lang="en-US" sz="28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Precision – Of the skills the model predicted, what fraction are correct.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Recall – Of the true skills in the resume/JD, what fraction the model successfully finds.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F1 – A single score that balances Precision and Recall.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Typed scoring: a prediction counts as correct only if both the skill and its label match (IMPLICIT / EXPLICIT).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A1F4EC6-8B1B-E22F-DABB-F11392EF95D8}"/>
              </a:ext>
            </a:extLst>
          </p:cNvPr>
          <p:cNvSpPr txBox="1"/>
          <p:nvPr/>
        </p:nvSpPr>
        <p:spPr>
          <a:xfrm>
            <a:off x="10058400" y="2552700"/>
            <a:ext cx="8001000" cy="4031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u="sng" spc="-288" dirty="0">
                <a:solidFill>
                  <a:srgbClr val="331B0D"/>
                </a:solidFill>
                <a:latin typeface="Open Sauce" panose="020B0604020202020204" charset="0"/>
              </a:rPr>
              <a:t>Example</a:t>
            </a:r>
            <a:r>
              <a:rPr lang="en-US" sz="2800" b="1" u="sng" spc="-288" dirty="0">
                <a:solidFill>
                  <a:srgbClr val="331B0D"/>
                </a:solidFill>
                <a:latin typeface="Open Sauce" panose="020B0604020202020204" charset="0"/>
              </a:rPr>
              <a:t>:</a:t>
            </a:r>
          </a:p>
          <a:p>
            <a:endParaRPr lang="en-US" sz="2800" b="1" u="sng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GT: {SQL, AWS, Docker, Git}</a:t>
            </a:r>
          </a:p>
          <a:p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Pred: {SQL, AWS, Linux, Git, Kubernetes}</a:t>
            </a:r>
          </a:p>
          <a:p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Precision –</a:t>
            </a: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  <a:sym typeface="Wingdings" panose="05000000000000000000" pitchFamily="2" charset="2"/>
              </a:rPr>
              <a:t>3/560%</a:t>
            </a: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Recall – 3/4 </a:t>
            </a: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  <a:sym typeface="Wingdings" panose="05000000000000000000" pitchFamily="2" charset="2"/>
              </a:rPr>
              <a:t>75%</a:t>
            </a: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</a:rPr>
              <a:t>F1 – 2 * (Precision * Recall) / (Precision + Recall)</a:t>
            </a:r>
            <a:r>
              <a:rPr lang="en-US" sz="2800" spc="-288" dirty="0">
                <a:solidFill>
                  <a:srgbClr val="331B0D"/>
                </a:solidFill>
                <a:latin typeface="Open Sauce" panose="020B0604020202020204" charset="0"/>
                <a:sym typeface="Wingdings" panose="05000000000000000000" pitchFamily="2" charset="2"/>
              </a:rPr>
              <a:t>0.9/1.35 ≈ 0.6767%</a:t>
            </a:r>
            <a:endParaRPr lang="en-US" sz="2800" spc="-288" dirty="0">
              <a:solidFill>
                <a:srgbClr val="331B0D"/>
              </a:solidFill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4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DE690-9E00-D10F-72DF-6DF2CBBA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F034BBB-9111-3D72-9B31-48FFE6F1890B}"/>
              </a:ext>
            </a:extLst>
          </p:cNvPr>
          <p:cNvSpPr txBox="1"/>
          <p:nvPr/>
        </p:nvSpPr>
        <p:spPr>
          <a:xfrm>
            <a:off x="385196" y="1116552"/>
            <a:ext cx="1759800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  <a:sym typeface="Open Sauce"/>
              </a:rPr>
              <a:t>Our Path to High-Quality Results:</a:t>
            </a:r>
            <a:endParaRPr lang="he-IL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814AFFB-B682-D690-E775-8AFD7E49E1E1}"/>
              </a:ext>
            </a:extLst>
          </p:cNvPr>
          <p:cNvSpPr txBox="1"/>
          <p:nvPr/>
        </p:nvSpPr>
        <p:spPr>
          <a:xfrm>
            <a:off x="228600" y="2716040"/>
            <a:ext cx="15240000" cy="48549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Controlled data: ~3,500 synthetic examples with controlled skill coverage in the text.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Consistent labeling: each skill in a sample is labeled as EXPLICIT or IMPLICIT.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Fair evaluation: separate Train / Val / Test splits.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Systematic comparison: zero-shot baseline vs. </a:t>
            </a:r>
            <a:r>
              <a:rPr lang="en-US" sz="3000" spc="-288" dirty="0" err="1">
                <a:solidFill>
                  <a:srgbClr val="331B0D"/>
                </a:solidFill>
                <a:latin typeface="Open Sauce" panose="020B0604020202020204" charset="0"/>
              </a:rPr>
              <a:t>RoBERTa</a:t>
            </a: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 under multiple training variants.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6915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9CF2A-B961-A8D1-F376-95DB7FF1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3A36F6-CAE6-92C5-9A05-A244063BD383}"/>
              </a:ext>
            </a:extLst>
          </p:cNvPr>
          <p:cNvSpPr txBox="1"/>
          <p:nvPr/>
        </p:nvSpPr>
        <p:spPr>
          <a:xfrm>
            <a:off x="385196" y="1116552"/>
            <a:ext cx="1759800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  <a:sym typeface="Open Sauce"/>
              </a:rPr>
              <a:t>Results:</a:t>
            </a:r>
            <a:endParaRPr lang="he-IL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8E52B81F-ABD3-0D6F-02E1-C54AF07E5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451441"/>
              </p:ext>
            </p:extLst>
          </p:nvPr>
        </p:nvGraphicFramePr>
        <p:xfrm>
          <a:off x="304800" y="3009900"/>
          <a:ext cx="9290304" cy="3749040"/>
        </p:xfrm>
        <a:graphic>
          <a:graphicData uri="http://schemas.openxmlformats.org/drawingml/2006/table">
            <a:tbl>
              <a:tblPr/>
              <a:tblGrid>
                <a:gridCol w="2322576">
                  <a:extLst>
                    <a:ext uri="{9D8B030D-6E8A-4147-A177-3AD203B41FA5}">
                      <a16:colId xmlns:a16="http://schemas.microsoft.com/office/drawing/2014/main" val="2773454159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547526474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402445529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877086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49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GPT-4o-mini (zero-shot)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2400" dirty="0"/>
                        <a:t>~</a:t>
                      </a:r>
                      <a:r>
                        <a:rPr lang="en-US" sz="2400" dirty="0"/>
                        <a:t>55</a:t>
                      </a:r>
                      <a:r>
                        <a:rPr lang="he-IL" sz="24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2400" dirty="0"/>
                        <a:t>~</a:t>
                      </a:r>
                      <a:r>
                        <a:rPr lang="en-US" sz="2400" dirty="0"/>
                        <a:t>47</a:t>
                      </a:r>
                      <a:r>
                        <a:rPr lang="he-IL" sz="2400" dirty="0"/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~50%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229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RoBERTa One-Pass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~66%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~60%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~61%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740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RoBERTa One-Pass +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~65%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~73%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~68%</a:t>
                      </a:r>
                      <a:endParaRPr lang="he-IL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7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/>
                        <a:t>RoBERTa</a:t>
                      </a:r>
                      <a:r>
                        <a:rPr lang="en-US" sz="2400" dirty="0"/>
                        <a:t> Pairwise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/>
                        <a:t>~67%</a:t>
                      </a:r>
                      <a:endParaRPr lang="he-IL" sz="2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/>
                        <a:t>~87%</a:t>
                      </a:r>
                      <a:endParaRPr lang="he-IL" sz="2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2400" b="0" dirty="0"/>
                        <a:t>~</a:t>
                      </a:r>
                      <a:r>
                        <a:rPr lang="en-US" sz="2400" b="0" dirty="0"/>
                        <a:t>74%</a:t>
                      </a:r>
                      <a:endParaRPr lang="he-IL" sz="2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88166"/>
                  </a:ext>
                </a:extLst>
              </a:tr>
            </a:tbl>
          </a:graphicData>
        </a:graphic>
      </p:graphicFrame>
      <p:sp>
        <p:nvSpPr>
          <p:cNvPr id="9" name="מלבן 8">
            <a:extLst>
              <a:ext uri="{FF2B5EF4-FFF2-40B4-BE49-F238E27FC236}">
                <a16:creationId xmlns:a16="http://schemas.microsoft.com/office/drawing/2014/main" id="{3922C49B-42C4-C3F4-72EE-EEE6F573442F}"/>
              </a:ext>
            </a:extLst>
          </p:cNvPr>
          <p:cNvSpPr/>
          <p:nvPr/>
        </p:nvSpPr>
        <p:spPr>
          <a:xfrm>
            <a:off x="304800" y="5919216"/>
            <a:ext cx="9290304" cy="838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501FC5D-56FD-E3B5-6838-4A0477E27A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640" y="3009900"/>
            <a:ext cx="7891272" cy="394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9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E8A0B-894E-3998-DD70-D3DF8743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4C67E8CA-2133-F93C-E1DC-6E2398775FDF}"/>
              </a:ext>
            </a:extLst>
          </p:cNvPr>
          <p:cNvSpPr txBox="1"/>
          <p:nvPr/>
        </p:nvSpPr>
        <p:spPr>
          <a:xfrm>
            <a:off x="228600" y="723900"/>
            <a:ext cx="1759800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 b="1" spc="-288" dirty="0">
                <a:solidFill>
                  <a:srgbClr val="331B0D"/>
                </a:solidFill>
                <a:latin typeface="Open Sauce Semi-Bold"/>
                <a:sym typeface="Open Sauce"/>
              </a:rPr>
              <a:t>Conclusion:</a:t>
            </a:r>
            <a:endParaRPr lang="he-IL" sz="4800" b="1" spc="-288" dirty="0">
              <a:solidFill>
                <a:srgbClr val="331B0D"/>
              </a:solidFill>
              <a:latin typeface="Open Sauce Semi-Bold"/>
              <a:sym typeface="Open Sauce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B569CF0-50A9-DA01-9E15-9D9C54AB3B19}"/>
              </a:ext>
            </a:extLst>
          </p:cNvPr>
          <p:cNvSpPr txBox="1"/>
          <p:nvPr/>
        </p:nvSpPr>
        <p:spPr>
          <a:xfrm>
            <a:off x="152400" y="1866900"/>
            <a:ext cx="15240000" cy="76251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Achieved desired results: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Clear improvement over the zero-shot baseline.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Pairwise performed best; One-Pass is faster.</a:t>
            </a:r>
          </a:p>
          <a:p>
            <a:pPr>
              <a:lnSpc>
                <a:spcPct val="150000"/>
              </a:lnSpc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What we’d do differently?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Expand the dataset beyond 3,500 samples to increase coverage and diversity.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Add additional seeds/runs to verify stability, not rely on a single run.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spc="-288" dirty="0">
              <a:solidFill>
                <a:srgbClr val="331B0D"/>
              </a:solidFill>
              <a:latin typeface="Open Sauce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Future ideas: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Scale up the skill taxonomy toward a larger global list.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pc="-288" dirty="0">
                <a:solidFill>
                  <a:srgbClr val="331B0D"/>
                </a:solidFill>
                <a:latin typeface="Open Sauce" panose="020B0604020202020204" charset="0"/>
              </a:rPr>
              <a:t>Evaluate on real resumes/JDs to test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740522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88736" y="4401622"/>
            <a:ext cx="10910528" cy="1731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853</Words>
  <Application>Microsoft Office PowerPoint</Application>
  <PresentationFormat>מותאם אישית</PresentationFormat>
  <Paragraphs>161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Open Sauce Bold</vt:lpstr>
      <vt:lpstr>Open Sauce</vt:lpstr>
      <vt:lpstr>Open Sauce Semi-Bold</vt:lpstr>
      <vt:lpstr>ADLaM Display</vt:lpstr>
      <vt:lpstr>Calibri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Beige and Brown Simple Minimalist Clean Final Project Presentation</dc:title>
  <dc:creator>רני פדלון</dc:creator>
  <cp:lastModifiedBy>Roni Fadida</cp:lastModifiedBy>
  <cp:revision>14</cp:revision>
  <dcterms:created xsi:type="dcterms:W3CDTF">2006-08-16T00:00:00Z</dcterms:created>
  <dcterms:modified xsi:type="dcterms:W3CDTF">2026-01-22T13:13:25Z</dcterms:modified>
  <dc:identifier>DAG9wCec8NY</dc:identifier>
</cp:coreProperties>
</file>